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69"/>
  </p:notesMasterIdLst>
  <p:sldIdLst>
    <p:sldId id="256" r:id="rId2"/>
    <p:sldId id="257" r:id="rId3"/>
    <p:sldId id="258" r:id="rId4"/>
    <p:sldId id="534" r:id="rId5"/>
    <p:sldId id="535" r:id="rId6"/>
    <p:sldId id="262" r:id="rId7"/>
    <p:sldId id="537" r:id="rId8"/>
    <p:sldId id="538" r:id="rId9"/>
    <p:sldId id="318" r:id="rId10"/>
    <p:sldId id="303" r:id="rId11"/>
    <p:sldId id="539" r:id="rId12"/>
    <p:sldId id="259" r:id="rId13"/>
    <p:sldId id="315" r:id="rId14"/>
    <p:sldId id="541" r:id="rId15"/>
    <p:sldId id="260" r:id="rId16"/>
    <p:sldId id="316" r:id="rId17"/>
    <p:sldId id="261" r:id="rId18"/>
    <p:sldId id="291" r:id="rId19"/>
    <p:sldId id="290" r:id="rId20"/>
    <p:sldId id="540" r:id="rId21"/>
    <p:sldId id="302" r:id="rId22"/>
    <p:sldId id="288" r:id="rId23"/>
    <p:sldId id="289" r:id="rId24"/>
    <p:sldId id="293" r:id="rId25"/>
    <p:sldId id="292" r:id="rId26"/>
    <p:sldId id="300" r:id="rId27"/>
    <p:sldId id="264" r:id="rId28"/>
    <p:sldId id="294" r:id="rId29"/>
    <p:sldId id="317" r:id="rId30"/>
    <p:sldId id="296" r:id="rId31"/>
    <p:sldId id="297" r:id="rId32"/>
    <p:sldId id="298" r:id="rId33"/>
    <p:sldId id="295" r:id="rId34"/>
    <p:sldId id="542" r:id="rId35"/>
    <p:sldId id="299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301" r:id="rId44"/>
    <p:sldId id="274" r:id="rId45"/>
    <p:sldId id="309" r:id="rId46"/>
    <p:sldId id="310" r:id="rId47"/>
    <p:sldId id="311" r:id="rId48"/>
    <p:sldId id="312" r:id="rId49"/>
    <p:sldId id="313" r:id="rId50"/>
    <p:sldId id="272" r:id="rId51"/>
    <p:sldId id="284" r:id="rId52"/>
    <p:sldId id="285" r:id="rId53"/>
    <p:sldId id="286" r:id="rId54"/>
    <p:sldId id="275" r:id="rId55"/>
    <p:sldId id="276" r:id="rId56"/>
    <p:sldId id="277" r:id="rId57"/>
    <p:sldId id="278" r:id="rId58"/>
    <p:sldId id="304" r:id="rId59"/>
    <p:sldId id="280" r:id="rId60"/>
    <p:sldId id="279" r:id="rId61"/>
    <p:sldId id="306" r:id="rId62"/>
    <p:sldId id="307" r:id="rId63"/>
    <p:sldId id="314" r:id="rId64"/>
    <p:sldId id="321" r:id="rId65"/>
    <p:sldId id="325" r:id="rId66"/>
    <p:sldId id="323" r:id="rId67"/>
    <p:sldId id="32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8:5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3650,'0'0'2142,"0"1"-2183,-1 0-1,1 0 1,0 0 0,0 0 0,0 0-1,0 0 1,0 0 0,0-1-1,0 1 1,0 0 0,0 0-1,0 0 1,0 0 0,1 0 0,-1 0-1,0 0 1,1-1 0,-1 1-1,1 0 1,-1 0 0,1 0 0,0 0-1,17-1-1460,3 0-1518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D8FD2-D829-454F-8CB7-0B909AB3417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3C921-127E-4441-A395-E055F2F23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5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3C921-127E-4441-A395-E055F2F2378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65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03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64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9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5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4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14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8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0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1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9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1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07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0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75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0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88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0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53F1FD-C75A-49D2-A739-C2354DD045D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DC6797-2DC7-47E9-88E3-15FECD23B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173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9E737A-FCD3-0821-98B5-625C41FEA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038" y="2218268"/>
            <a:ext cx="9475924" cy="2421464"/>
          </a:xfrm>
        </p:spPr>
        <p:txBody>
          <a:bodyPr anchor="t"/>
          <a:lstStyle/>
          <a:p>
            <a:pPr algn="ctr"/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Playwright with </a:t>
            </a:r>
            <a:r>
              <a:rPr lang="en-IN" dirty="0" err="1">
                <a:solidFill>
                  <a:schemeClr val="bg1"/>
                </a:solidFill>
                <a:latin typeface="Arial Black" panose="020B0A04020102020204" pitchFamily="34" charset="0"/>
              </a:rPr>
              <a:t>Javascript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4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7D425B-2B82-95DE-892B-984AF48F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17987"/>
            <a:ext cx="10131425" cy="145626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About trainer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FC2C396-3FA8-FE6B-41E8-80C4A2E44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84984"/>
            <a:ext cx="10131425" cy="3649133"/>
          </a:xfrm>
        </p:spPr>
        <p:txBody>
          <a:bodyPr anchor="t"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 experience.</a:t>
            </a:r>
          </a:p>
          <a:p>
            <a:r>
              <a:rPr lang="en-IN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ISTQB, Tosca AS1 &amp; Tosca AS2 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Certified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time software testing manual &amp; automation trainer.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Conducted trainings for multiple corporates</a:t>
            </a:r>
            <a:r>
              <a:rPr lang="en-IN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Conducted 500+ batches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</a:t>
            </a:r>
            <a:r>
              <a:rPr lang="en-IN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5000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professionals</a:t>
            </a:r>
            <a:r>
              <a:rPr lang="en-IN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Awarded as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Adarsh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Shikshak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24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Manik</a:t>
            </a: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Foundation, Kolhapur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7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06D973-2EAC-56F3-650A-AE4C7542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169387"/>
            <a:ext cx="9773382" cy="106888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Training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B3DBE06-5146-7905-6235-1A7F7CAE9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0911" y="3300723"/>
            <a:ext cx="4513195" cy="338789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="" xmlns:a16="http://schemas.microsoft.com/office/drawing/2014/main" id="{1745C529-7510-A954-5DCA-3048F3481E4C}"/>
              </a:ext>
            </a:extLst>
          </p:cNvPr>
          <p:cNvSpPr/>
          <p:nvPr/>
        </p:nvSpPr>
        <p:spPr>
          <a:xfrm>
            <a:off x="780184" y="5619732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Basics of Automation Testing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EF776B7C-FB47-F813-31AA-8D031B4DDA10}"/>
              </a:ext>
            </a:extLst>
          </p:cNvPr>
          <p:cNvSpPr/>
          <p:nvPr/>
        </p:nvSpPr>
        <p:spPr>
          <a:xfrm>
            <a:off x="2264004" y="4283158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JavaScript Programming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="" xmlns:a16="http://schemas.microsoft.com/office/drawing/2014/main" id="{E09D99A6-F076-460A-E693-DC0EEFBC2417}"/>
              </a:ext>
            </a:extLst>
          </p:cNvPr>
          <p:cNvSpPr/>
          <p:nvPr/>
        </p:nvSpPr>
        <p:spPr>
          <a:xfrm>
            <a:off x="5067579" y="1505962"/>
            <a:ext cx="4038714" cy="126297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 err="1"/>
              <a:t>Fameworks</a:t>
            </a:r>
            <a:endParaRPr lang="en-IN" sz="2800" b="1" dirty="0"/>
          </a:p>
          <a:p>
            <a:pPr algn="ctr"/>
            <a:r>
              <a:rPr lang="en-IN" sz="2800" b="1" dirty="0"/>
              <a:t>Chai</a:t>
            </a:r>
            <a:r>
              <a:rPr lang="en-IN" sz="2800" b="1" dirty="0" smtClean="0"/>
              <a:t>, Mocha, </a:t>
            </a:r>
            <a:r>
              <a:rPr lang="en-IN" sz="2800" b="1" dirty="0" err="1" smtClean="0"/>
              <a:t>FrameworkDesign</a:t>
            </a:r>
            <a:endParaRPr lang="en-IN" sz="28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7F5FE0C3-2B34-D7AE-44C9-CBD761E46A9F}"/>
              </a:ext>
            </a:extLst>
          </p:cNvPr>
          <p:cNvSpPr/>
          <p:nvPr/>
        </p:nvSpPr>
        <p:spPr>
          <a:xfrm>
            <a:off x="7330911" y="258213"/>
            <a:ext cx="4336329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Git/</a:t>
            </a:r>
            <a:r>
              <a:rPr lang="en-IN" sz="2800" b="1" dirty="0" err="1"/>
              <a:t>Github</a:t>
            </a:r>
            <a:r>
              <a:rPr lang="en-IN" sz="2800" b="1" dirty="0"/>
              <a:t> Jenkins Integration With AI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2C0745C7-EFF8-C7A2-A099-67B504D2B2BB}"/>
              </a:ext>
            </a:extLst>
          </p:cNvPr>
          <p:cNvSpPr/>
          <p:nvPr/>
        </p:nvSpPr>
        <p:spPr>
          <a:xfrm>
            <a:off x="3191645" y="2946584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Playwright</a:t>
            </a:r>
          </a:p>
        </p:txBody>
      </p:sp>
    </p:spTree>
    <p:extLst>
      <p:ext uri="{BB962C8B-B14F-4D97-AF65-F5344CB8AC3E}">
        <p14:creationId xmlns:p14="http://schemas.microsoft.com/office/powerpoint/2010/main" val="192522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6FFF24-9D97-4581-3202-0E6B3F30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22" y="334296"/>
            <a:ext cx="10018713" cy="85786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What is Playwright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AEE8B4C3-54D0-9795-7172-114030037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949" y="1192161"/>
            <a:ext cx="1124810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Open-source end-to-end testing framework developed by Microsoft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Playwright supports all modern rendering engines including Chromium, WebKit, and Firefox.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cross-browser testing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(Chromium, Firefox, WebKit)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web applications using JavaScript, TypeScript, Python, Java, and C#.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Playwright Test was created specifically to accommodate the needs of end-to-end testing.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Test on Windows, Linux, and macOS, locally or on CI, headless or headed with native mobile emulation of Google Chrome for Android and Mobile Safari.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6B23881-0AE9-6093-1707-76B455A8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085" y="0"/>
            <a:ext cx="1787257" cy="11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4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2588F16-65CF-6D63-CEDF-17EF8BAC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E88051-F523-2907-A09C-094C1AB6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03" y="0"/>
            <a:ext cx="10018713" cy="85786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Key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58641F-0D20-BE54-D802-F946E40C3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31" y="848032"/>
            <a:ext cx="11513936" cy="5161935"/>
          </a:xfrm>
        </p:spPr>
        <p:txBody>
          <a:bodyPr anchor="t">
            <a:noAutofit/>
          </a:bodyPr>
          <a:lstStyle/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Cross-browser: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Playwright supports all modern rendering engines including Chromium, WebKit, and Firefox.</a:t>
            </a:r>
          </a:p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Cross-platform: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on Windows, Linux, and macOS, locally or on CI, headless or headed.</a:t>
            </a:r>
          </a:p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Cross-language: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Playwright API in TypeScript, JavaScript, Python, .NET, Java.</a:t>
            </a:r>
          </a:p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Mobile Web: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 mobile emulation of Google Chrome for Android and Mobile Safari. The same rendering engine works on your Desktop and in the Cloud.</a:t>
            </a:r>
          </a:p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Auto-wait: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Playwright waits for elements to be actionable prior to performing actions.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Web-first assertions: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Playwright assertions are created specifically for the dynamic web. Checks are automatically retried until the necessary conditions are met.</a:t>
            </a:r>
          </a:p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Tracing: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Configure test retry strategy, capture execution trace, videos, screenshots to eliminate flakes.</a:t>
            </a:r>
          </a:p>
          <a:p>
            <a:pPr algn="just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Everything</a:t>
            </a:r>
            <a:r>
              <a:rPr lang="en-US" sz="2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scenarios that span multiple tabs, multiple origins and multiple users. Create scenarios with different contexts for different users and run them against your server, all in one test.</a:t>
            </a:r>
          </a:p>
          <a:p>
            <a:pPr algn="just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265828A-142D-4F84-852E-2842286D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6720" y="1"/>
            <a:ext cx="1526622" cy="94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83E4306-6E97-20FC-26EA-976FE007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00EFF4-6569-11AE-E2B2-CC4CA844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6033"/>
            <a:ext cx="10018713" cy="59239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Selenium Vs Playwright Vs Cypress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="" xmlns:a16="http://schemas.microsoft.com/office/drawing/2014/main" id="{55595BE1-673A-C5F3-2DDA-E94BBF158F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951432"/>
              </p:ext>
            </p:extLst>
          </p:nvPr>
        </p:nvGraphicFramePr>
        <p:xfrm>
          <a:off x="1032387" y="815904"/>
          <a:ext cx="9858527" cy="5876649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513225">
                  <a:extLst>
                    <a:ext uri="{9D8B030D-6E8A-4147-A177-3AD203B41FA5}">
                      <a16:colId xmlns="" xmlns:a16="http://schemas.microsoft.com/office/drawing/2014/main" val="3844661874"/>
                    </a:ext>
                  </a:extLst>
                </a:gridCol>
                <a:gridCol w="2448434">
                  <a:extLst>
                    <a:ext uri="{9D8B030D-6E8A-4147-A177-3AD203B41FA5}">
                      <a16:colId xmlns="" xmlns:a16="http://schemas.microsoft.com/office/drawing/2014/main" val="1237158197"/>
                    </a:ext>
                  </a:extLst>
                </a:gridCol>
                <a:gridCol w="2448434">
                  <a:extLst>
                    <a:ext uri="{9D8B030D-6E8A-4147-A177-3AD203B41FA5}">
                      <a16:colId xmlns="" xmlns:a16="http://schemas.microsoft.com/office/drawing/2014/main" val="1879217932"/>
                    </a:ext>
                  </a:extLst>
                </a:gridCol>
                <a:gridCol w="2448434">
                  <a:extLst>
                    <a:ext uri="{9D8B030D-6E8A-4147-A177-3AD203B41FA5}">
                      <a16:colId xmlns="" xmlns:a16="http://schemas.microsoft.com/office/drawing/2014/main" val="2345708194"/>
                    </a:ext>
                  </a:extLst>
                </a:gridCol>
              </a:tblGrid>
              <a:tr h="278442">
                <a:tc>
                  <a:txBody>
                    <a:bodyPr/>
                    <a:lstStyle/>
                    <a:p>
                      <a:r>
                        <a:rPr lang="en-IN" sz="1800" b="1" dirty="0"/>
                        <a:t>Feature</a:t>
                      </a:r>
                      <a:endParaRPr lang="en-IN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Playwright</a:t>
                      </a:r>
                      <a:endParaRPr lang="en-IN" sz="18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Selenium</a:t>
                      </a:r>
                      <a:endParaRPr lang="en-IN" sz="18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Cypress</a:t>
                      </a:r>
                      <a:endParaRPr lang="en-IN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2649351868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Browsers Supported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Chromium, WebKit (Safari), Firefox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Chrome, Firefox, Safari, Edge, IE, etc.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Chrome, Firefox, Edge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2237407572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Programming Languages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Java, Python, JavaScript, .NET (C#)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Java, C#, Python, etc.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JavaScript, TypeScript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3188408573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Operating Systems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Windows, macOS, Linux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Windows, macOS, Linux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Windows, </a:t>
                      </a:r>
                      <a:r>
                        <a:rPr lang="en-IN" sz="1600" dirty="0" err="1"/>
                        <a:t>macOS</a:t>
                      </a:r>
                      <a:r>
                        <a:rPr lang="en-IN" sz="1600" dirty="0"/>
                        <a:t>, Linux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2014343287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Headless Mode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✅ Yes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3887880496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Cross-Browser Testing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✅ Yes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1091782006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Parallel Execution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23708585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Auto Waits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❌ No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3887950008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/>
                        <a:t>Multi-tab/Window Support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❌ No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3812295039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/>
                        <a:t>Real-Time Test Execution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❌ No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❌ No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4148072718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/>
                        <a:t>Debugging Support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Built-in debuggers and DevTools integration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Uses browser developer tools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Built-in debuggers and DevTools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2799018880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API Testing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❌ No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✅ Yes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727076655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Community Support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Growing community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Large community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Growing community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531103644"/>
                  </a:ext>
                </a:extLst>
              </a:tr>
              <a:tr h="488027">
                <a:tc>
                  <a:txBody>
                    <a:bodyPr/>
                    <a:lstStyle/>
                    <a:p>
                      <a:r>
                        <a:rPr lang="en-IN" sz="1600" b="1"/>
                        <a:t>Testing Frameworks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Compatible with Jest, Mocha, etc.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Compatible with TestNG, JUnit, etc.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Uses Mocha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3457804619"/>
                  </a:ext>
                </a:extLst>
              </a:tr>
              <a:tr h="278442">
                <a:tc>
                  <a:txBody>
                    <a:bodyPr/>
                    <a:lstStyle/>
                    <a:p>
                      <a:r>
                        <a:rPr lang="en-IN" sz="1600" b="1"/>
                        <a:t>Performance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⚡ High performance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🚀 Good performance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⚡ High performance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4" marR="40054" marT="20027" marB="20027" anchor="ctr"/>
                </a:tc>
                <a:extLst>
                  <a:ext uri="{0D108BD9-81ED-4DB2-BD59-A6C34878D82A}">
                    <a16:rowId xmlns="" xmlns:a16="http://schemas.microsoft.com/office/drawing/2014/main" val="214130941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ABCFD7-DD2B-A5A1-5F45-50730AF3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085" y="0"/>
            <a:ext cx="1787257" cy="11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3615F0-ACC3-26EB-82F6-2C661C9B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JavaScript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7E1736B-9991-3BB0-13A5-C1B643BEB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3C50C0-0369-5394-0FD9-C800A40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37" y="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What is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A6A480E1-2793-E5B0-0860-061EC2C4A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6140" y="1499292"/>
            <a:ext cx="1135206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Initially developed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at Netscape.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JavaScript is a cross-platform, object-oriented scripting language used to make webpages interactive (e.g., having complex animations, clickable buttons, popup menus,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There are also more advanced server side versions of JavaScript such as Node.js, which allow you to add more functionality to a website than downloading files (such 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collaboration between multiple computers). </a:t>
            </a:r>
          </a:p>
        </p:txBody>
      </p:sp>
    </p:spTree>
    <p:extLst>
      <p:ext uri="{BB962C8B-B14F-4D97-AF65-F5344CB8AC3E}">
        <p14:creationId xmlns:p14="http://schemas.microsoft.com/office/powerpoint/2010/main" val="347786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F08396-58BE-A1C1-2C56-4073D5DE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94" y="272848"/>
            <a:ext cx="10018713" cy="106434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What is JavaScript?</a:t>
            </a:r>
            <a:endParaRPr lang="en-IN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B0C0B8-FF2F-2C6B-84DA-F67D41C7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6" y="1415845"/>
            <a:ext cx="10913088" cy="4375356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JavaScript is fundamentally synchronous executes code in a sequential manner, one line at a time.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The program waits for each operation to complete before moving on to the next.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To handle tasks that might take a while (e.g., fetching data from a server, waiting for a timer</a:t>
            </a: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, waiting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for any other operation), JavaScript employs asynchronous mechanisms.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57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465F34-2191-C113-A424-707142A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883" y="355456"/>
            <a:ext cx="10018713" cy="1086439"/>
          </a:xfrm>
        </p:spPr>
        <p:txBody>
          <a:bodyPr>
            <a:noAutofit/>
          </a:bodyPr>
          <a:lstStyle/>
          <a:p>
            <a:r>
              <a:rPr lang="en-IN" b="1" kern="100" dirty="0">
                <a:solidFill>
                  <a:schemeClr val="bg1"/>
                </a:solidFill>
                <a:effectLst/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Interpreter - Based Language ?</a:t>
            </a:r>
            <a:br>
              <a:rPr lang="en-IN" b="1" kern="100" dirty="0">
                <a:solidFill>
                  <a:schemeClr val="bg1"/>
                </a:solidFill>
                <a:effectLst/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A702C4-0895-1E29-BC72-60F991AD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883" y="1520554"/>
            <a:ext cx="10756851" cy="4720471"/>
          </a:xfrm>
        </p:spPr>
        <p:txBody>
          <a:bodyPr anchor="t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interpreter - based languages, there is no separate compilation phase.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IN" sz="24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nstead, the code is executed line by line at runtime.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approach doesn't create intermediate files (like bytecode or object code),making it different from compiler-based languages.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Because it interprets each line as it’s executed, it can make changes and test them quickly</a:t>
            </a:r>
            <a:r>
              <a:rPr lang="en-IN" sz="2400" kern="100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2400" kern="100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</a:t>
            </a:r>
            <a:r>
              <a:rPr lang="en-IN" sz="2400" kern="100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hough </a:t>
            </a:r>
            <a:r>
              <a:rPr lang="en-IN" sz="24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can be slower than a fully compiled language for large programs</a:t>
            </a:r>
            <a:r>
              <a:rPr lang="en-IN" sz="2400" kern="100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IN" sz="24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9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5CA0F7-8991-1ED8-1BDD-2B649FCE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15678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History</a:t>
            </a: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/>
            </a:r>
            <a:b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(ECMA was formerly an acronym for the European Computer Manufacturers Association) </a:t>
            </a:r>
            <a:endParaRPr lang="en-IN" sz="20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500CE8FC-A7C5-6BEE-EECD-5F79A7672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37819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98BD980-C9B7-EBE1-F5D9-B957E97E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440373"/>
            <a:ext cx="11012258" cy="530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8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768B2C-5604-29EC-97F4-705297E1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831" y="209088"/>
            <a:ext cx="10018713" cy="80363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AC82F03-B00F-A8B0-5DE2-3A4D6EE4F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069" y="1255186"/>
            <a:ext cx="1164594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Dynamically Typed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You don’t need to define the type of variable when declaring 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JavaScript code is executed line by line, unlike compiled languages.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Supports objects, inheritance, and methods.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Functional Programming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First-class functions, higher-order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Supports async/await, promises, and event-driven programming.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Multi-Paradigm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Supports object-oriented, imperative, and functional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08042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6426D7-D086-7766-8B5C-CCF9ABA1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16" y="82485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 Environment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EE0E0AD-D659-54E1-E90A-DB57D3E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6" y="1599109"/>
            <a:ext cx="10018713" cy="2617510"/>
          </a:xfrm>
        </p:spPr>
        <p:txBody>
          <a:bodyPr anchor="t"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Node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Visual Studio Code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code runner extension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Check for node -v on command prompt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Search for node </a:t>
            </a:r>
            <a:r>
              <a:rPr lang="en-US" b="1" dirty="0" err="1" smtClean="0">
                <a:solidFill>
                  <a:schemeClr val="bg1"/>
                </a:solidFill>
              </a:rPr>
              <a:t>js</a:t>
            </a:r>
            <a:r>
              <a:rPr lang="en-US" b="1" dirty="0" smtClean="0">
                <a:solidFill>
                  <a:schemeClr val="bg1"/>
                </a:solidFill>
              </a:rPr>
              <a:t> download on Google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Download and install node </a:t>
            </a:r>
            <a:r>
              <a:rPr lang="en-US" b="1" dirty="0" err="1" smtClean="0">
                <a:solidFill>
                  <a:schemeClr val="bg1"/>
                </a:solidFill>
              </a:rPr>
              <a:t>js</a:t>
            </a:r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Check again on command prompt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Check for </a:t>
            </a:r>
            <a:r>
              <a:rPr lang="en-US" b="1" dirty="0" err="1" smtClean="0">
                <a:solidFill>
                  <a:schemeClr val="bg1"/>
                </a:solidFill>
              </a:rPr>
              <a:t>npm</a:t>
            </a:r>
            <a:r>
              <a:rPr lang="en-US" b="1" dirty="0" smtClean="0">
                <a:solidFill>
                  <a:schemeClr val="bg1"/>
                </a:solidFill>
              </a:rPr>
              <a:t> version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err="1" smtClean="0">
                <a:solidFill>
                  <a:schemeClr val="bg1"/>
                </a:solidFill>
              </a:rPr>
              <a:t>npm</a:t>
            </a:r>
            <a:r>
              <a:rPr lang="en-US" b="1" dirty="0" smtClean="0">
                <a:solidFill>
                  <a:schemeClr val="bg1"/>
                </a:solidFill>
              </a:rPr>
              <a:t> -v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Execution on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code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Open terminal and call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node &lt;filename&gt;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Or install code runner plug-in</a:t>
            </a:r>
          </a:p>
          <a:p>
            <a:endParaRPr lang="en-US" b="1" dirty="0" smtClean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733" y="5888715"/>
            <a:ext cx="1087628" cy="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1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3E9090-3C39-2C14-2529-A6EADDA7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336" y="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Data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F86C28E3-D3E1-3865-8121-24DDA4575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3338" y="1323658"/>
            <a:ext cx="1000532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Primitive Types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A sequence of characters.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Number: Includes integers and floating-point numbers.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Boolean: true or false.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Null: Represents the intentional absence of any object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Undefined: A variable that hasn’t been assigned a value.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BigInt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hold arbitrarily large integers (more complex)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Symbol: A unique and immutable data type (ES6+).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Non-Primitive Types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Object: A collection of properties (key-value pairs).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Array: A collection of elements (indexed list).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9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A07225-EEDB-C299-FEEB-FDAC5F4D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91911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JavaScript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F2025A-7DF5-4DC7-D2B8-37146843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150" y="1514783"/>
            <a:ext cx="10018713" cy="4235777"/>
          </a:xfrm>
        </p:spPr>
        <p:txBody>
          <a:bodyPr anchor="t"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string represents textual data. It contains a sequence of characters. 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"hello", "JavaScript", etc.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JavaScript, strings are surrounded by quotes: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quotes: 'Hello'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quotes: "Hello"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Backticks: `Hello`</a:t>
            </a:r>
          </a:p>
        </p:txBody>
      </p:sp>
    </p:spTree>
    <p:extLst>
      <p:ext uri="{BB962C8B-B14F-4D97-AF65-F5344CB8AC3E}">
        <p14:creationId xmlns:p14="http://schemas.microsoft.com/office/powerpoint/2010/main" val="94778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A1602E-5BB8-8610-CAA5-E87E7EBE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68643"/>
            <a:ext cx="10018713" cy="94503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7953D2FF-8B45-3D74-29A2-42378010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1310326"/>
            <a:ext cx="10862945" cy="5293673"/>
          </a:xfrm>
        </p:spPr>
      </p:pic>
    </p:spTree>
    <p:extLst>
      <p:ext uri="{BB962C8B-B14F-4D97-AF65-F5344CB8AC3E}">
        <p14:creationId xmlns:p14="http://schemas.microsoft.com/office/powerpoint/2010/main" val="170347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D7052E-F44C-FE03-3DBC-35FDC1B5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54" y="87629"/>
            <a:ext cx="10018713" cy="1016131"/>
          </a:xfrm>
        </p:spPr>
        <p:txBody>
          <a:bodyPr/>
          <a:lstStyle/>
          <a:p>
            <a:r>
              <a:rPr lang="en-IN" b="1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typeof</a:t>
            </a:r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122783-4F93-78B4-8C46-7B8461FC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37" y="1103760"/>
            <a:ext cx="11399328" cy="5580668"/>
          </a:xfrm>
        </p:spPr>
        <p:txBody>
          <a:bodyPr anchor="t">
            <a:no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 is used to determine the data type of a variable or value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10;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"number"</a:t>
            </a:r>
          </a:p>
          <a:p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"Hello";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"string"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"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"undefined"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null;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"object" (this is a known bug in JavaScript)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9CB7950D-F56A-FF84-FAC4-3E7FD70AD494}"/>
                  </a:ext>
                </a:extLst>
              </p14:cNvPr>
              <p14:cNvContentPartPr/>
              <p14:nvPr/>
            </p14:nvContentPartPr>
            <p14:xfrm>
              <a:off x="2779872" y="1952265"/>
              <a:ext cx="16200" cy="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1232" y="1943265"/>
                <a:ext cx="3384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850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36E347-0C3E-63BA-2F68-99058F16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Working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0F8C23-4C9E-91E8-C754-56DE913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201" y="1582419"/>
            <a:ext cx="10018713" cy="3124201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No Need to Declare Variable Type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Same Variable Can Be Assigned Values of Different Types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No Scoping Information in Variable Declarations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Variable and Values Can Be Interrogated(Using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24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8E747A-2596-09D4-55A8-1E58589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3" y="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8292C6-C627-DBF5-5167-42DE5E36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3" y="1428135"/>
            <a:ext cx="10686946" cy="4167434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let: Block-scoped  and Global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const: Block-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scoped,Global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read-only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var: Function-scoped/global-scoped variable (older, generally avoided now).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name = "Alice"; // 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 country = "USA"; // Immutable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(true)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let temp = "Hot";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 pi = 3.14; 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5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A26113-F4B5-B686-7DDE-05D3AB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13" y="222795"/>
            <a:ext cx="10018713" cy="577392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Understand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3A1367-1AB1-8DAA-45F7-5C43E68D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16EB4D-839D-E292-E0DD-44904199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066800"/>
            <a:ext cx="11260393" cy="52190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250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3C2212-E271-D83B-E9E8-93D53CFB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561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Redeclaration for let and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314B78-CD4D-EC4F-6333-AB6A342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045" y="1819373"/>
            <a:ext cx="10576875" cy="3971827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“Tom";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“Jerry"; // No error, `name` is re-declared and re-assigned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“Jerry“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age = 25;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age = 30; //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SyntaxError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Identifier 'age' has already been declared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console.log(age); // "Bob"</a:t>
            </a:r>
          </a:p>
        </p:txBody>
      </p:sp>
    </p:spTree>
    <p:extLst>
      <p:ext uri="{BB962C8B-B14F-4D97-AF65-F5344CB8AC3E}">
        <p14:creationId xmlns:p14="http://schemas.microsoft.com/office/powerpoint/2010/main" val="55834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EFC8BE-4A85-FF03-D4F3-51517835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33314"/>
            <a:ext cx="10018713" cy="105815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Scope for var and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FFDBEF-DEA4-A517-BD03-A55E243C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1291473"/>
            <a:ext cx="10202123" cy="5333213"/>
          </a:xfrm>
        </p:spPr>
        <p:txBody>
          <a:bodyPr anchor="t"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(true)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var x = 10;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let y = 20;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console.log("inside function y value " +y);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console.log(x); // 10 (accessible because `var` is function-scoped or globally scoped)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console.log(y); //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y is not defined (because `let` is block-scoped)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7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1A2E0E-FF53-13D8-5686-B4D3DB41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034" y="461128"/>
            <a:ext cx="10018713" cy="605672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Working with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10193B-2282-E1D7-C13C-7ADF92C6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034" y="1391239"/>
            <a:ext cx="10018713" cy="4075522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 PI = 3.14159; // A constant for the value of PI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Trying to reassign a const variable will cause an error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 = 3.14; // ❌ Error: Assignment to constant variable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const for values that should not change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 BASE_URL = "https://api.example.com";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console.log(BASE_URL);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09082-91B5-262B-8104-5120199A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8" y="204804"/>
            <a:ext cx="10018713" cy="8719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Hoisting in JavaScript</a:t>
            </a:r>
            <a:br>
              <a:rPr lang="en-US" b="1" dirty="0">
                <a:solidFill>
                  <a:schemeClr val="bg1"/>
                </a:solidFill>
                <a:latin typeface="Century Schoolbook" panose="02040604050505020304" pitchFamily="18" charset="0"/>
              </a:rPr>
            </a:br>
            <a:endParaRPr lang="en-IN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F9B0FC5-C275-5B30-8D2D-81D3E581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935383"/>
            <a:ext cx="11099899" cy="5646656"/>
          </a:xfrm>
        </p:spPr>
        <p:txBody>
          <a:bodyPr anchor="t"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moves variable declarations to the top of their scope (hoisting)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Only declarations are hoisted, not initializations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Hoisting is the behavior where you can able to access variable before even declaring it.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undefined (variable declared but not initialized yet)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"I'm hoisted!";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Output: "I'm hoisted!"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"let" and "const" are not hoisted in the same way as "var"; using them before declaration will cause an error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console.log(b); //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Cannot access 'b' before initialization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let b = 10;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C00291-B22A-6196-56A1-8CFDF107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3181"/>
            <a:ext cx="10018713" cy="1011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Hoisting in JavaScript</a:t>
            </a:r>
            <a:br>
              <a:rPr lang="en-US" b="1" dirty="0">
                <a:solidFill>
                  <a:schemeClr val="bg1"/>
                </a:solidFill>
                <a:latin typeface="Century Schoolbook" panose="02040604050505020304" pitchFamily="18" charset="0"/>
              </a:rPr>
            </a:br>
            <a:endParaRPr lang="en-IN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9D3620E-CBD3-B008-06FB-F6610554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319" y="1246238"/>
            <a:ext cx="10018713" cy="4365523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var: Variables declared with var are hoisted to the top of their scope, meaning they are moved to the top of the function or global scope and are initialized with undefined.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However, they are only assigned a value when the code reaches their actual line of assignment.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let: Accessing a let variable before its declaration results in a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 to the temporal dead zone(the period between the beginning of the block and the declaration line).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12BB6A-B7DF-C12A-DDFA-F859201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8472"/>
            <a:ext cx="10018713" cy="66223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2014150C-C639-1D27-6CF4-14A851ED6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300437"/>
            <a:ext cx="10261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76A1F10-9638-D740-872A-0401CDF6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00" y="810705"/>
            <a:ext cx="10356714" cy="58988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231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3BE751-B1A9-987A-2859-826F600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" y="147686"/>
            <a:ext cx="12005187" cy="125376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Loose Equality == Vs Strict Equality===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072165-7608-75AE-B4D1-AD90058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395" y="1401451"/>
            <a:ext cx="11140308" cy="4565715"/>
          </a:xfrm>
        </p:spPr>
        <p:txBody>
          <a:bodyPr anchor="t">
            <a:no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 (loose equality) compares values with type coercion.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converts operands to the same type before comparing them.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=== (strict equality) compares both values and types without type coercion.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console.log(5 == "5");  // Output: true (because '5' is coerced to number)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console.log(5 === "5");  // Output: false (because types are different)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console.log(null == undefined); // true - Special case where null and undefined are loosely equal.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console.log(null === undefined); // false - Strict equality checks type and value, which differ here.</a:t>
            </a:r>
          </a:p>
          <a:p>
            <a:pPr algn="just"/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8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FAD618-4F8B-1304-A5EB-038A646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715"/>
            <a:ext cx="10018713" cy="115242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Guess Output?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BDF19FB-476F-BB98-B6B5-9D2BF7F37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348" y="1527143"/>
            <a:ext cx="9832257" cy="4722828"/>
          </a:xfrm>
        </p:spPr>
      </p:pic>
    </p:spTree>
    <p:extLst>
      <p:ext uri="{BB962C8B-B14F-4D97-AF65-F5344CB8AC3E}">
        <p14:creationId xmlns:p14="http://schemas.microsoft.com/office/powerpoint/2010/main" val="2557137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66560E-914A-859C-654A-1404C12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70571"/>
            <a:ext cx="10018713" cy="974888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20E94E7-FAB2-ED8F-D863-6904CAE6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1273278"/>
            <a:ext cx="10018713" cy="4724399"/>
          </a:xfrm>
        </p:spPr>
        <p:txBody>
          <a:bodyPr anchor="t"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1.Implicit: 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Coercion: Automatic type conversion by JavaScript to make expressions work even if data types don't match.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2.Explicit conversion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5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17325C-72E0-FD71-1EC8-16D0E128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909" y="205034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String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C79FBB-183D-08DA-5420-7D635F3D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52" y="791852"/>
            <a:ext cx="10431170" cy="5750349"/>
          </a:xfrm>
        </p:spPr>
        <p:txBody>
          <a:bodyPr anchor="t">
            <a:no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conversion occurs when we output something, concatenate strings, or perform certain operations.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 implicitly converts other types to strings when they are used in string operations.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result1 = "Hello" + " " + "World";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console.log(result1); // "Hello World"</a:t>
            </a:r>
          </a:p>
          <a:p>
            <a:r>
              <a:rPr lang="en-I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Mixing Numbers and Strings in Concatenation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console.log("5" + 2 + 3); // "523" - Number 2 and 3 are coerced into strings and concatenated.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console.log(5 + 2 + "3"); // "73" - Number 5 and 2  are operate and concatenated.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console.log("hello" + true);//’</a:t>
            </a:r>
            <a:r>
              <a:rPr lang="en-IN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hellotrue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– true coerced into string and concatenated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</a:p>
          <a:p>
            <a:r>
              <a:rPr lang="en-I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Explicit String Conversion using String()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value = 100;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String(value);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"100"</a:t>
            </a:r>
          </a:p>
          <a:p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// "string"</a:t>
            </a:r>
          </a:p>
        </p:txBody>
      </p:sp>
    </p:spTree>
    <p:extLst>
      <p:ext uri="{BB962C8B-B14F-4D97-AF65-F5344CB8AC3E}">
        <p14:creationId xmlns:p14="http://schemas.microsoft.com/office/powerpoint/2010/main" val="342011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9B5A2A-4218-1EED-DDE4-D3F84EF5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052" y="0"/>
            <a:ext cx="10018713" cy="1310326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Number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5DA1FF-1B11-E2E9-948C-CE7996CC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052" y="1168924"/>
            <a:ext cx="10327476" cy="5184741"/>
          </a:xfrm>
        </p:spPr>
        <p:txBody>
          <a:bodyPr anchor="t">
            <a:noAutofit/>
          </a:bodyPr>
          <a:lstStyle/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Numeric conversion happens when we perform mathematical operations.</a:t>
            </a: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 tries to convert values to numbers when used with arithmetic operators.</a:t>
            </a:r>
          </a:p>
          <a:p>
            <a:pPr algn="just"/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result4 = "10" * 2;</a:t>
            </a: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console.log(result4); // 20 - "10" is coerced to number 10 for multiplication.</a:t>
            </a: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result5 = Number("5") + 3;</a:t>
            </a: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console.log(result5); // 8 - Explicit numeric conversion using Number()</a:t>
            </a:r>
          </a:p>
          <a:p>
            <a:pPr algn="just"/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Edge Case - Non-numeric strings convert to </a:t>
            </a:r>
            <a:r>
              <a:rPr lang="en-IN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result6 = Number("</a:t>
            </a:r>
            <a:r>
              <a:rPr lang="en-I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console.log(result6); // </a:t>
            </a:r>
            <a:r>
              <a:rPr lang="en-I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(Not a Number)</a:t>
            </a:r>
          </a:p>
          <a:p>
            <a:pPr algn="just"/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9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A28E46-E51C-30D2-51E0-93AABC33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368" y="255818"/>
            <a:ext cx="10018713" cy="765928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Truthy vs </a:t>
            </a:r>
            <a:r>
              <a:rPr lang="en-IN" b="1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Falsy</a:t>
            </a:r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3DD73E-AB32-0ABD-3197-CE57F99A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368" y="1308198"/>
            <a:ext cx="10018713" cy="4659984"/>
          </a:xfrm>
        </p:spPr>
        <p:txBody>
          <a:bodyPr anchor="t">
            <a:noAutofit/>
          </a:bodyPr>
          <a:lstStyle/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Truthy values are values that evaluate to true in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contexts (e.g., all non-zero numbers, non-empty strings).</a:t>
            </a:r>
          </a:p>
          <a:p>
            <a:pPr algn="just"/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values are values that evaluate to false (e.g., 0, "", null, undefined,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false).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console.log(Boolean(0));  // Output: false 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console.log(Boolean(1));  // Output: true (truthy value)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console.log(Boolean("Hello"));  // Output: true (truthy value)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console.log(Boolean(""));  // Output: false 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console.log(Boolean(null));  // Output: false (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096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3899" y="955343"/>
            <a:ext cx="1050332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err="1">
                <a:solidFill>
                  <a:schemeClr val="bg1"/>
                </a:solidFill>
              </a:rPr>
              <a:t>Truthy</a:t>
            </a:r>
            <a:r>
              <a:rPr lang="en-IN" sz="2800" dirty="0">
                <a:solidFill>
                  <a:schemeClr val="bg1"/>
                </a:solidFill>
              </a:rPr>
              <a:t> value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  Any true value in boolean context is called as </a:t>
            </a:r>
            <a:r>
              <a:rPr lang="en-IN" sz="2800" dirty="0" err="1">
                <a:solidFill>
                  <a:schemeClr val="bg1"/>
                </a:solidFill>
              </a:rPr>
              <a:t>truthy</a:t>
            </a:r>
            <a:r>
              <a:rPr lang="en-IN" sz="2800">
                <a:solidFill>
                  <a:schemeClr val="bg1"/>
                </a:solidFill>
              </a:rPr>
              <a:t> </a:t>
            </a:r>
            <a:r>
              <a:rPr lang="en-IN" sz="2800" smtClean="0">
                <a:solidFill>
                  <a:schemeClr val="bg1"/>
                </a:solidFill>
              </a:rPr>
              <a:t>value </a:t>
            </a:r>
            <a:r>
              <a:rPr lang="en-IN" sz="2800" dirty="0">
                <a:solidFill>
                  <a:schemeClr val="bg1"/>
                </a:solidFill>
              </a:rPr>
              <a:t>in JS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  </a:t>
            </a:r>
            <a:r>
              <a:rPr lang="en-IN" sz="2800" dirty="0" err="1">
                <a:solidFill>
                  <a:schemeClr val="bg1"/>
                </a:solidFill>
              </a:rPr>
              <a:t>eg</a:t>
            </a:r>
            <a:r>
              <a:rPr lang="en-IN" sz="2800" dirty="0">
                <a:solidFill>
                  <a:schemeClr val="bg1"/>
                </a:solidFill>
              </a:rPr>
              <a:t>. Non Empty String, Non zero number, true</a:t>
            </a:r>
          </a:p>
          <a:p>
            <a:r>
              <a:rPr lang="en-IN" sz="2800" dirty="0">
                <a:solidFill>
                  <a:schemeClr val="bg1"/>
                </a:solidFill>
              </a:rPr>
              <a:t>==========================================</a:t>
            </a:r>
          </a:p>
          <a:p>
            <a:r>
              <a:rPr lang="en-IN" sz="2800" dirty="0" err="1">
                <a:solidFill>
                  <a:schemeClr val="bg1"/>
                </a:solidFill>
              </a:rPr>
              <a:t>Falsy</a:t>
            </a:r>
            <a:r>
              <a:rPr lang="en-IN" sz="2800" dirty="0">
                <a:solidFill>
                  <a:schemeClr val="bg1"/>
                </a:solidFill>
              </a:rPr>
              <a:t> Value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  Any false </a:t>
            </a:r>
            <a:r>
              <a:rPr lang="en-IN" sz="2800" dirty="0" err="1">
                <a:solidFill>
                  <a:schemeClr val="bg1"/>
                </a:solidFill>
              </a:rPr>
              <a:t>valus</a:t>
            </a:r>
            <a:r>
              <a:rPr lang="en-IN" sz="2800" dirty="0">
                <a:solidFill>
                  <a:schemeClr val="bg1"/>
                </a:solidFill>
              </a:rPr>
              <a:t> in boolean context is called as </a:t>
            </a:r>
            <a:r>
              <a:rPr lang="en-IN" sz="2800" dirty="0" err="1">
                <a:solidFill>
                  <a:schemeClr val="bg1"/>
                </a:solidFill>
              </a:rPr>
              <a:t>falsy</a:t>
            </a:r>
            <a:r>
              <a:rPr lang="en-IN" sz="2800" dirty="0">
                <a:solidFill>
                  <a:schemeClr val="bg1"/>
                </a:solidFill>
              </a:rPr>
              <a:t> value in JS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  </a:t>
            </a:r>
            <a:r>
              <a:rPr lang="en-IN" sz="2800" dirty="0" err="1">
                <a:solidFill>
                  <a:schemeClr val="bg1"/>
                </a:solidFill>
              </a:rPr>
              <a:t>eg</a:t>
            </a:r>
            <a:r>
              <a:rPr lang="en-IN" sz="2800" dirty="0">
                <a:solidFill>
                  <a:schemeClr val="bg1"/>
                </a:solidFill>
              </a:rPr>
              <a:t>. 0, "", </a:t>
            </a:r>
            <a:r>
              <a:rPr lang="en-IN" sz="2800" dirty="0" err="1">
                <a:solidFill>
                  <a:schemeClr val="bg1"/>
                </a:solidFill>
              </a:rPr>
              <a:t>NaN</a:t>
            </a:r>
            <a:r>
              <a:rPr lang="en-IN" sz="2800" dirty="0">
                <a:solidFill>
                  <a:schemeClr val="bg1"/>
                </a:solidFill>
              </a:rPr>
              <a:t>, Undefined, false, null</a:t>
            </a:r>
          </a:p>
        </p:txBody>
      </p:sp>
    </p:spTree>
    <p:extLst>
      <p:ext uri="{BB962C8B-B14F-4D97-AF65-F5344CB8AC3E}">
        <p14:creationId xmlns:p14="http://schemas.microsoft.com/office/powerpoint/2010/main" val="309857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B0031D-0791-549C-7FE3-70FA9F6B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72" y="78658"/>
            <a:ext cx="10018713" cy="93561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Boolean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5B86EF-F8A2-3EA1-ECEE-438FCF69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72" y="1086414"/>
            <a:ext cx="10018713" cy="4989922"/>
          </a:xfrm>
        </p:spPr>
        <p:txBody>
          <a:bodyPr anchor="t">
            <a:normAutofit/>
          </a:bodyPr>
          <a:lstStyle/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 conversion occurs in logical contexts, and some values are inherently "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console.log(Boolean(0)); // false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console.log(Boolean("")); // false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console.log(Boolean(undefined)); // false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console.log(Boolean(null)); // false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console.log(Boolean("hello")); // true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console.log(Boolean(1)); // true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console.log(Boolean(10.0)); // true</a:t>
            </a:r>
          </a:p>
        </p:txBody>
      </p:sp>
    </p:spTree>
    <p:extLst>
      <p:ext uri="{BB962C8B-B14F-4D97-AF65-F5344CB8AC3E}">
        <p14:creationId xmlns:p14="http://schemas.microsoft.com/office/powerpoint/2010/main" val="4104652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E58147-1082-62DF-1F73-7A43FC2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281" y="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7E262BB-3184-B7CC-1B6F-EF726C20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281" y="1752599"/>
            <a:ext cx="10018713" cy="4414887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If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If- else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Ladder-if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Nested-If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2026955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48A74-A51E-9005-017A-EFF07974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90500"/>
            <a:ext cx="10018713" cy="1223521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D8E2F5-31F3-82C6-A097-8EEACACC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414021"/>
            <a:ext cx="10962967" cy="4471447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**While Loop**: Repeats a block of code as long as a specified condition is true.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**Do...While Loop**: Similar to the while loop but ensures the code runs at least once.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**For Loop**: A loop with initialization, condition, and increment all in one line, often used when the number of iterations is known.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**For...In Loop**: Used to iterate over the properties of an object.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**For...Of Loop**: Used to iterate over the values in an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like an array or string.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78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1CE361-15AB-B0F1-0BD5-453B027F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932" y="111577"/>
            <a:ext cx="10018713" cy="1095866"/>
          </a:xfrm>
        </p:spPr>
        <p:txBody>
          <a:bodyPr/>
          <a:lstStyle/>
          <a:p>
            <a:r>
              <a:rPr lang="en-IN" b="1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For..of</a:t>
            </a:r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 and </a:t>
            </a:r>
            <a:r>
              <a:rPr lang="en-IN" b="1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for..in</a:t>
            </a:r>
            <a:endParaRPr lang="en-IN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62AEA2-E5D9-68C2-0ED7-4F3CAEA4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051" y="1282451"/>
            <a:ext cx="11130477" cy="4518582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for...of: Iterates over values of an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 (arrays, strings, maps, etc.).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when you need to iterate over the actual values, not the indexes/keys.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for...in: Iterates over keys of an object or indexes of an array.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when you need to access object keys or array indexes.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09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A82A61-7344-9CA6-62B6-F4F5AC35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46115"/>
            <a:ext cx="10018713" cy="86726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For…of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DCE605-0B07-D1DF-5CD2-5A4D8A59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824" y="791852"/>
            <a:ext cx="10322350" cy="5920033"/>
          </a:xfrm>
        </p:spPr>
        <p:txBody>
          <a:bodyPr>
            <a:noAutofit/>
          </a:bodyPr>
          <a:lstStyle/>
          <a:p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(let element of </a:t>
            </a:r>
            <a:r>
              <a:rPr lang="en-I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// Code to execute for each element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array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fruits = ["Apple", "Banana", "Cherry"];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(let fruit of fruits) {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console.log(fruit); // Prints "Apple", "Banana", "Cherry"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string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greeting = "Hello";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(let char of greeting) {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console.log(char); // Prints "H", "e", "l", "l", "o"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999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11E8CE-118C-F5E0-76DD-4C42F9F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660" y="365142"/>
            <a:ext cx="10018713" cy="66223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For…in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2362D9-99F8-2ADC-60DF-76E21605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030" y="1208645"/>
            <a:ext cx="10891099" cy="5128968"/>
          </a:xfrm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(let key in object) {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// Code to execute for each key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person = {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name: "Alice",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age: 25,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city: "New York"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(let key in person) {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console.log(key + ": " + person[key]);  //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Prints"name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Alice", "age: 25", "city: New York“ }</a:t>
            </a:r>
          </a:p>
          <a:p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9FBCEC2-C345-A7E2-403B-6357AC4A261A}"/>
              </a:ext>
            </a:extLst>
          </p:cNvPr>
          <p:cNvSpPr txBox="1"/>
          <p:nvPr/>
        </p:nvSpPr>
        <p:spPr>
          <a:xfrm>
            <a:off x="6008017" y="1571184"/>
            <a:ext cx="61839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numbers = [10, 20, 30];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(let index in numbers) 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console.log(index + ": " +numbers[index]);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// Prints "0: 10", "1: 20", "2: 30"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01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283F01-8B09-2DA6-B0DD-1C2C2C1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045" y="336501"/>
            <a:ext cx="10018713" cy="77535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C2333BA-4DDE-B2F8-2E25-7E88A4D06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715" y="1351508"/>
            <a:ext cx="106805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Functions are reusable blocks of code designed to perform specific tasks. They allow us to execute the same code at multiple points in a program, making it easier to manage, debug, and maintain.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Functions are important for modular programming, enabling code reusability and reducing redundancy.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Types of Functions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-----------------------------------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 Declaration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Defines a function with a name.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 Expression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Functions assigned to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shorter syntax for writing functions (ES6+). </a:t>
            </a:r>
          </a:p>
        </p:txBody>
      </p:sp>
    </p:spTree>
    <p:extLst>
      <p:ext uri="{BB962C8B-B14F-4D97-AF65-F5344CB8AC3E}">
        <p14:creationId xmlns:p14="http://schemas.microsoft.com/office/powerpoint/2010/main" val="1180047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E567EA-4481-6381-F2D3-3F0C4D3A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523B6123-E602-4BD9-C4DB-9B9B2758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2AFDF08-2859-9EAB-8511-DBE5CA7D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432619"/>
            <a:ext cx="11024418" cy="62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294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C72DE9-3003-EC74-4480-E16338B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6928840-AAF9-54A1-FEE6-D9C4BAC3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607" y="324465"/>
            <a:ext cx="10952418" cy="6057481"/>
          </a:xfrm>
        </p:spPr>
      </p:pic>
    </p:spTree>
    <p:extLst>
      <p:ext uri="{BB962C8B-B14F-4D97-AF65-F5344CB8AC3E}">
        <p14:creationId xmlns:p14="http://schemas.microsoft.com/office/powerpoint/2010/main" val="198805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1F3087-8150-2F28-8CDC-C1F54A5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41" y="264028"/>
            <a:ext cx="10018713" cy="93561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Array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DA56A0EF-BC8A-E01F-DFD6-66C19F8A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41" y="1351508"/>
            <a:ext cx="97390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Arrays store a list of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Methods to manipulate arrays: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push()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pop()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shift()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unshift()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let numbers = [1, 2, 3, 4, 5];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numbers.push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(6); // Adds 6 at the 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console.log(numbers); // [1, 2, 3,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let squares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numbers.map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(num =&gt; num * num);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console.log(squares); // [1, 4, 9, 16, 25, 36]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7653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473CB3-B475-2383-A94C-E31955F4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167" y="121674"/>
            <a:ext cx="10018713" cy="99727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8BC664-5D8F-BC4A-7EF7-64A37DF1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964283"/>
            <a:ext cx="10018713" cy="57032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Element to an Array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add elements to an array using built-in methods like push() and unshift().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Using the push() Method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push() method adds an element at the end of the array.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Using the unshift() Method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unshift() method adds an element at the beginning of the array.</a:t>
            </a:r>
          </a:p>
          <a:p>
            <a:pPr algn="just"/>
            <a:r>
              <a:rPr 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using pop() and shift() methods.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 array using built-in methods like pop() and shift().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Remove the last element using pop().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Remove the first element using shift().</a:t>
            </a:r>
          </a:p>
          <a:p>
            <a:pPr algn="just"/>
            <a:r>
              <a:rPr 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Length of an Array.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find the length of an array using the length property.</a:t>
            </a:r>
            <a:endParaRPr lang="en-IN" sz="2400" kern="1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747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C3D454-ADE9-6D6D-8311-7D2C964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63216"/>
            <a:ext cx="10018713" cy="70936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Array Methods</a:t>
            </a:r>
            <a:endParaRPr lang="en-IN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88208E-F3FE-C8A8-0C4A-9EAF4193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00" y="1950437"/>
            <a:ext cx="10018713" cy="3528767"/>
          </a:xfrm>
        </p:spPr>
        <p:txBody>
          <a:bodyPr>
            <a:noAutofit/>
          </a:bodyPr>
          <a:lstStyle/>
          <a:p>
            <a:pPr algn="just"/>
            <a:r>
              <a:rPr 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at specified index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any specified index of an array using the splice() method.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 numbers = [1, 2, 3, 4, 5];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remove one element starting from index 2</a:t>
            </a:r>
          </a:p>
          <a:p>
            <a:pPr algn="just"/>
            <a:r>
              <a:rPr lang="en-US" sz="2400" kern="1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numbers.splice</a:t>
            </a:r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(2, 1);</a:t>
            </a:r>
          </a:p>
          <a:p>
            <a:pPr algn="just"/>
            <a:endParaRPr lang="en-US" sz="2400" kern="1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console.log(numbers);</a:t>
            </a:r>
          </a:p>
          <a:p>
            <a:pPr algn="just"/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Output: [ 1, 2, 4, 5 ]</a:t>
            </a:r>
            <a:endParaRPr lang="en-IN" sz="2400" kern="1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21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D27DC0-9691-4A24-2B92-FC22E15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43" y="17047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Multi-Dimensional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1AB432-CFC3-FCBB-CF67-7C8521B9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42" y="1517715"/>
            <a:ext cx="10018713" cy="4273486"/>
          </a:xfrm>
        </p:spPr>
        <p:txBody>
          <a:bodyPr>
            <a:noAutofit/>
          </a:bodyPr>
          <a:lstStyle/>
          <a:p>
            <a:pPr algn="just"/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JavaScript, multidimensional arrays contain another array inside them.</a:t>
            </a:r>
          </a:p>
          <a:p>
            <a:pPr algn="just"/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multidimensional array</a:t>
            </a:r>
          </a:p>
          <a:p>
            <a:pPr algn="just"/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contains 3 separate arrays as elements</a:t>
            </a:r>
          </a:p>
          <a:p>
            <a:pPr algn="just"/>
            <a:r>
              <a:rPr lang="en-IN" sz="2400" kern="1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= [[1, 2, 3], [1, 3, 4], [4, 5, 6]];</a:t>
            </a:r>
          </a:p>
          <a:p>
            <a:pPr algn="just"/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console.log(data);</a:t>
            </a:r>
          </a:p>
          <a:p>
            <a:pPr algn="just"/>
            <a:r>
              <a:rPr lang="en-IN" sz="2400" kern="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 : [ [ 1, 2, 3 ], [ 1, 3, 4 ], [ 4, 5, 6 ] ]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757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6582E0-8F00-D0B1-F342-7D02F09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53" y="0"/>
            <a:ext cx="10018713" cy="115242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2702D2B-5D42-1C9C-2DA7-40F8E384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65" y="1494503"/>
            <a:ext cx="10884670" cy="4709653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JavaScript string is a primitive data type that represents textual data. 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example, let name = "John";</a:t>
            </a:r>
          </a:p>
          <a:p>
            <a:pPr marL="457200" lvl="1" indent="0" algn="just">
              <a:buNone/>
            </a:pPr>
            <a:r>
              <a:rPr lang="en-US" sz="2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1. JavaScript Strings are Immutable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JavaScript, the characters of a string cannot be changed. 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message = "hello";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message[0] = "H";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console.log(message);  // hello</a:t>
            </a:r>
          </a:p>
          <a:p>
            <a:pPr marL="457200" lvl="1" indent="0" algn="just">
              <a:buNone/>
            </a:pPr>
            <a:r>
              <a:rPr lang="en-US" sz="2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2. JavaScript Strings are Case-Sensitive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JavaScript., the lowercase and uppercase letters are treated as different values. let value1 = "a";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value2 = "A"</a:t>
            </a:r>
          </a:p>
          <a:p>
            <a:pPr marL="457200" lvl="1" indent="0" algn="just">
              <a:buNone/>
            </a:pP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console.log(value1 == value2);  // false</a:t>
            </a:r>
          </a:p>
          <a:p>
            <a:endParaRPr lang="en-IN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74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129969-CDFE-FC4A-6647-86FD6772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318156"/>
            <a:ext cx="10018713" cy="9544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ECE1EF-C439-BB6F-583E-3665F2B4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10" y="1272620"/>
            <a:ext cx="10018713" cy="45185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charAt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	           Returns the character at the specified index.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concat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	           Joins two or more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replace()	            Replace a string with another string.</a:t>
            </a:r>
          </a:p>
          <a:p>
            <a:pPr marL="457200" lvl="1" indent="0" algn="just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split()	                  Converts the string to an array of strings.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toLowerCase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	Returns the passed string in lowercase.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toUpperCase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	Returns the passed string in uppercase.</a:t>
            </a:r>
          </a:p>
          <a:p>
            <a:pPr marL="457200" lvl="1" indent="0" algn="just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trim()	                  Removes whitespace from the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includes()	            Searches for a string and returns a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boolean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value.</a:t>
            </a:r>
            <a:endParaRPr lang="en-IN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5244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621944-F942-E39D-45DD-DEBEB086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2" y="150499"/>
            <a:ext cx="10018713" cy="52083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F22671D7-8E23-A2FC-1528-29C88C33C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6975" y="856357"/>
            <a:ext cx="1031804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Objects are collections of properties and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Property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key-value pair.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function that is a property of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JavaScript object is a variable that can store multiple data in key-value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syntax of JavaScript object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key1: value1,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keyN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valueN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// create person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const person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name: "John",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age: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};console.log(person); // Output: { name: "John", age: 20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8EDC7D8-3F60-C472-3D79-D930D0CF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772" y="2678039"/>
            <a:ext cx="4494251" cy="29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43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AD14DC-3B6B-1E83-D20D-3FCB0AA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070" y="308487"/>
            <a:ext cx="10018713" cy="99727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Constructor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B00041D-D212-98C0-CA8C-DF580CA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1" y="1465006"/>
            <a:ext cx="11034318" cy="304414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 Functions: Special functions used to create and initialize objects.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Keyword: Used to create a new instance of an object using a constructor.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constructor function is used to create and initialize objects.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 functions are typically named with a capital letter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896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1B2A0D7-265B-6109-C754-FBC6B9C4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2" y="527901"/>
            <a:ext cx="10716442" cy="5750351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// Constructor Function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function Person(name, age)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this.name = name;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dirty="0" err="1">
                <a:solidFill>
                  <a:schemeClr val="bg1"/>
                </a:solidFill>
              </a:rPr>
              <a:t>this.age</a:t>
            </a:r>
            <a:r>
              <a:rPr lang="en-US" sz="2000" dirty="0">
                <a:solidFill>
                  <a:schemeClr val="bg1"/>
                </a:solidFill>
              </a:rPr>
              <a:t> = age;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dirty="0" err="1">
                <a:solidFill>
                  <a:schemeClr val="bg1"/>
                </a:solidFill>
              </a:rPr>
              <a:t>this.greet</a:t>
            </a:r>
            <a:r>
              <a:rPr lang="en-US" sz="2000" dirty="0">
                <a:solidFill>
                  <a:schemeClr val="bg1"/>
                </a:solidFill>
              </a:rPr>
              <a:t> = function()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console.log(`Hello, my name is ${this.name} and I'm ${</a:t>
            </a:r>
            <a:r>
              <a:rPr lang="en-US" sz="2000" dirty="0" err="1">
                <a:solidFill>
                  <a:schemeClr val="bg1"/>
                </a:solidFill>
              </a:rPr>
              <a:t>this.age</a:t>
            </a:r>
            <a:r>
              <a:rPr lang="en-US" sz="2000" dirty="0">
                <a:solidFill>
                  <a:schemeClr val="bg1"/>
                </a:solidFill>
              </a:rPr>
              <a:t>} years old.`);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};</a:t>
            </a:r>
          </a:p>
          <a:p>
            <a:r>
              <a:rPr lang="en-US" sz="2000" dirty="0">
                <a:solidFill>
                  <a:schemeClr val="bg1"/>
                </a:solidFill>
              </a:rPr>
              <a:t>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let person1 = new Person("Alice", 30);</a:t>
            </a:r>
          </a:p>
          <a:p>
            <a:r>
              <a:rPr lang="en-US" sz="2000" dirty="0">
                <a:solidFill>
                  <a:schemeClr val="bg1"/>
                </a:solidFill>
              </a:rPr>
              <a:t>let person2 = new Person("Bob", 25);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person1.greet(); // "Hello, my name is Alice and I'm 30 years old."</a:t>
            </a:r>
          </a:p>
          <a:p>
            <a:r>
              <a:rPr lang="en-US" sz="2000" dirty="0">
                <a:solidFill>
                  <a:schemeClr val="bg1"/>
                </a:solidFill>
              </a:rPr>
              <a:t>person2.greet(); // "Hello, my name is Bob and I'm 25 years old."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920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BCDC55-C0F0-D227-D193-9EA9186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50" y="362145"/>
            <a:ext cx="10018713" cy="756501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F14E0C-1BF8-CEAA-BB6F-AECCA7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1" y="1373073"/>
            <a:ext cx="6017342" cy="5053554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to the current object in which it is used.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global context, this refers to the global object (window in browsers).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 methods, this refers to the object that owns the method.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constructor functions, this refers to the newly created object.</a:t>
            </a:r>
          </a:p>
          <a:p>
            <a:pPr algn="just"/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6AC2CB3-44BC-6D81-4DEA-050F7EFDB651}"/>
              </a:ext>
            </a:extLst>
          </p:cNvPr>
          <p:cNvSpPr txBox="1"/>
          <p:nvPr/>
        </p:nvSpPr>
        <p:spPr>
          <a:xfrm>
            <a:off x="6253316" y="1268361"/>
            <a:ext cx="580103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Car(brand, model) 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this.brand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brand;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this.model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model;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this.displayInfo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function() 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console.log(`Car: ${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this.brand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   							${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this.model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}`);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};</a:t>
            </a: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myCar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Car("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Toyota","Corolla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myCar.displayInfo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"Car: Toyota Corolla"</a:t>
            </a:r>
          </a:p>
        </p:txBody>
      </p:sp>
    </p:spTree>
    <p:extLst>
      <p:ext uri="{BB962C8B-B14F-4D97-AF65-F5344CB8AC3E}">
        <p14:creationId xmlns:p14="http://schemas.microsoft.com/office/powerpoint/2010/main" val="1615679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874624-E372-40EE-3397-036B736C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82019"/>
            <a:ext cx="10018713" cy="784781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6C52B3-7A08-13D6-2AE7-624F7943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56673"/>
            <a:ext cx="10018713" cy="4431385"/>
          </a:xfrm>
        </p:spPr>
        <p:txBody>
          <a:bodyPr anchor="t"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OOP </a:t>
            </a:r>
            <a:r>
              <a:rPr lang="en-US" sz="2400" b="1" dirty="0" err="1">
                <a:solidFill>
                  <a:schemeClr val="bg1"/>
                </a:solidFill>
              </a:rPr>
              <a:t>Principles</a:t>
            </a:r>
            <a:r>
              <a:rPr lang="en-US" sz="2400" dirty="0" err="1">
                <a:solidFill>
                  <a:schemeClr val="bg1"/>
                </a:solidFill>
              </a:rPr>
              <a:t>:</a:t>
            </a:r>
            <a:r>
              <a:rPr lang="en-US" sz="2400" b="1" dirty="0" err="1">
                <a:solidFill>
                  <a:schemeClr val="bg1"/>
                </a:solidFill>
              </a:rPr>
              <a:t>Encapsulation</a:t>
            </a:r>
            <a:r>
              <a:rPr lang="en-US" sz="2400" dirty="0">
                <a:solidFill>
                  <a:schemeClr val="bg1"/>
                </a:solidFill>
              </a:rPr>
              <a:t>: Bundling data (properties) and methods that operate on the data into a single unit (object).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Inheritance</a:t>
            </a:r>
            <a:r>
              <a:rPr lang="en-US" sz="2400" dirty="0">
                <a:solidFill>
                  <a:schemeClr val="bg1"/>
                </a:solidFill>
              </a:rPr>
              <a:t>: A mechanism where one class can inherit the properties and methods from another class.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Polymorphism</a:t>
            </a:r>
            <a:r>
              <a:rPr lang="en-US" sz="2400" dirty="0">
                <a:solidFill>
                  <a:schemeClr val="bg1"/>
                </a:solidFill>
              </a:rPr>
              <a:t>: The ability of different objects to respond to the same method in their own way.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Abstraction</a:t>
            </a:r>
            <a:r>
              <a:rPr lang="en-US" sz="2400" dirty="0">
                <a:solidFill>
                  <a:schemeClr val="bg1"/>
                </a:solidFill>
              </a:rPr>
              <a:t>: Hiding the complex implementation details and showing only essential features to the user.</a:t>
            </a:r>
          </a:p>
          <a:p>
            <a:pPr algn="just"/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4974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4F3729-01D2-0DC1-A9A5-881328B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413" y="361082"/>
            <a:ext cx="10018713" cy="794208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Encapsulation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442FF822-17B0-9DDB-2741-C4BFE9127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123" y="1490008"/>
            <a:ext cx="114152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refers to bundling data and methods that work on that data within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is achieved by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can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closures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getter/setter methods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control access to object properties. </a:t>
            </a:r>
          </a:p>
        </p:txBody>
      </p:sp>
    </p:spTree>
    <p:extLst>
      <p:ext uri="{BB962C8B-B14F-4D97-AF65-F5344CB8AC3E}">
        <p14:creationId xmlns:p14="http://schemas.microsoft.com/office/powerpoint/2010/main" val="809282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A0CEBF23-9DD2-0ECE-2342-C61F7EF4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D87AB6A-65EB-9062-98E6-61F7FEE9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562563"/>
            <a:ext cx="11025103" cy="57328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66318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E122E6-C791-1C1B-E9D3-AA7C9661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556" y="341672"/>
            <a:ext cx="10018713" cy="92333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Polymorphism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55A01E1E-C9B5-F3F8-C6D5-19E5EFDD2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1" y="1602658"/>
            <a:ext cx="1114562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allows different classes to have methods with the same name, but with different implementations.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overriding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methods in inheritance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JavaScript is interpreted programming language so decisions will be taking at run time not at compile time so method overloading is not supported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Method Overriding is possible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944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3F1A29-7D81-5EE5-4DDF-05B3C24A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CA4E8E-8767-9A27-6E0F-81592849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C616FBC-BB40-B449-58BC-A66F9C2B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407884"/>
            <a:ext cx="11210826" cy="60422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9233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33ED04-5097-A7E0-F413-34E3AF5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78" y="15711"/>
            <a:ext cx="10018713" cy="90733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9B2864-3D70-D576-DFE3-48AEE0F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923041"/>
            <a:ext cx="11669268" cy="4582213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allows one object (child) to inherit the properties and methods of another object (parent).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 uses 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programming, inheritance refers to passing down characteristics from a parent to a child so that a new piece of code can reuse and build upon the features of an existing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implements inheritance by using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Each object has an internal link to another object called its prototype. That prototype object has a prototype of its own, and so on until an object is reached with null as its prototype.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definition, null has no prototype and acts as the final link in this prototype 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possible to mutate any member of the prototype chain or even swap out the prototype at runtime, so concepts like static dispatching do not exist in JavaScript.</a:t>
            </a:r>
          </a:p>
          <a:p>
            <a:pPr algn="just"/>
            <a:endParaRPr lang="en-IN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728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CF2A5B-A9A3-1CEA-7BB3-FCC70740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50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0B5878E-1E1B-09DB-2A04-E9EBC45A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976" y="599767"/>
            <a:ext cx="10955458" cy="54126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30358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2455" y="441801"/>
            <a:ext cx="6916962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chemeClr val="bg1"/>
                </a:solidFill>
                <a:latin typeface="Century Schoolbook" panose="02040604050505020304" pitchFamily="18" charset="0"/>
              </a:rPr>
              <a:t>Inheritance</a:t>
            </a:r>
            <a:r>
              <a:rPr lang="en-IN" b="1" spc="-7" dirty="0">
                <a:solidFill>
                  <a:schemeClr val="bg1"/>
                </a:solidFill>
                <a:latin typeface="Century Schoolbook" panose="02040604050505020304" pitchFamily="18" charset="0"/>
              </a:rPr>
              <a:t> Types</a:t>
            </a:r>
            <a:endParaRPr b="1" spc="-7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000">
              <a:solidFill>
                <a:schemeClr val="bg1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0" y="5815950"/>
            <a:ext cx="2696629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Single 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level </a:t>
            </a: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Inheritance</a:t>
            </a: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000">
              <a:solidFill>
                <a:schemeClr val="bg1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084926" y="5994401"/>
            <a:ext cx="2739289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Multi-level</a:t>
            </a:r>
            <a:r>
              <a:rPr sz="2000" b="1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Inheritance</a:t>
            </a: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359073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Hierarchical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Inheritance</a:t>
            </a: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000">
              <a:solidFill>
                <a:schemeClr val="bg1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000">
              <a:solidFill>
                <a:schemeClr val="bg1"/>
              </a:solidFill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=""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=""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=""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=""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B</a:t>
            </a: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=""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55384" y="3530579"/>
            <a:ext cx="57319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=""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=""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=""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=""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=""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B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=""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63350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000" b="1" spc="7" dirty="0">
                <a:solidFill>
                  <a:schemeClr val="bg1"/>
                </a:solidFill>
                <a:latin typeface="Calibri"/>
                <a:cs typeface="Calibri"/>
              </a:rPr>
              <a:t>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=""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=""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=""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=""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=""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=""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63350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000" b="1" spc="7" dirty="0">
                <a:solidFill>
                  <a:schemeClr val="bg1"/>
                </a:solidFill>
                <a:latin typeface="Calibri"/>
                <a:cs typeface="Calibri"/>
              </a:rPr>
              <a:t>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=""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B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=""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63350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b="1" spc="-7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000" b="1" spc="7" dirty="0">
                <a:solidFill>
                  <a:schemeClr val="bg1"/>
                </a:solidFill>
                <a:latin typeface="Calibri"/>
                <a:cs typeface="Calibri"/>
              </a:rPr>
              <a:t>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D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=""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=""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=""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bg1"/>
                </a:solidFill>
              </a:endParaRPr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=""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63350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Cl</a:t>
            </a:r>
            <a:r>
              <a:rPr sz="2000" b="1" spc="-13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ss</a:t>
            </a:r>
            <a:r>
              <a:rPr sz="2000" b="1" spc="-2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endParaRPr sz="200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FAA464-6190-DA01-CEAD-E1A2547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D60865-5B51-6E7B-4084-0A383849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72C6401-C3E3-0A94-44EE-58FDD6F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599338"/>
            <a:ext cx="10803118" cy="56593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49567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8B6585-CFBE-E5D3-BFB9-8AFE798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032" y="271426"/>
            <a:ext cx="10018713" cy="92618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Converting JSON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4B814A-8E97-CE5E-4F6E-4CE518BF5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916264" cy="3649133"/>
          </a:xfrm>
        </p:spPr>
        <p:txBody>
          <a:bodyPr>
            <a:noAutofit/>
          </a:bodyPr>
          <a:lstStyle/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common use of JSON is to exchange data to/from a web server.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receiving data from a web server, the data is always a string.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Parse the data with 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(), and the data becomes a JavaScript object.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 static method parses a JSON string, constructing the JavaScript value or object described by the string. 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= '{"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result":true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, "count":42}';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obj = 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obj.count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42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obj.result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r>
              <a:rPr lang="en-US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true</a:t>
            </a:r>
            <a:endParaRPr lang="en-IN" sz="2200" b="0" i="0" dirty="0">
              <a:solidFill>
                <a:schemeClr val="bg1"/>
              </a:solidFill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1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3C4195-B15D-1639-89D8-151D7A68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430162"/>
            <a:ext cx="11798710" cy="857864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Synchronous &amp; Asynchronous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7C9F10-E233-E364-5A80-577887053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1543665"/>
            <a:ext cx="10863926" cy="4247535"/>
          </a:xfrm>
        </p:spPr>
        <p:txBody>
          <a:bodyPr anchor="t">
            <a:normAutofit/>
          </a:bodyPr>
          <a:lstStyle/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Synchronous means code that runs one line at a time &amp; </a:t>
            </a:r>
            <a:r>
              <a:rPr lang="en-IN" sz="240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wait </a:t>
            </a:r>
            <a:r>
              <a:rPr lang="en-IN" sz="2400" smtClean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each 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task to finish before moving to the next.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Asynchronous means code that does not wait for a task to finish &amp; moves to the next line handling the result later.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We use async/await to write asynchronous code in a way that looks like synchronous but the code still runs asynchronously behind the scenes </a:t>
            </a:r>
          </a:p>
          <a:p>
            <a:pPr algn="just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Async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: declare function as asynchronous &amp; automatically returns promise</a:t>
            </a:r>
          </a:p>
          <a:p>
            <a:pPr algn="just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Await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: Pause execution inside as async function until a promise resolved or reject</a:t>
            </a:r>
          </a:p>
          <a:p>
            <a:pPr algn="just"/>
            <a:endParaRPr lang="en-IN" sz="2400" dirty="0">
              <a:solidFill>
                <a:schemeClr val="bg1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pPr algn="just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5482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F923F10-02A2-E649-80C7-2B9FE897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B7B9B1-3860-F514-6B37-CC93DF42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Asynchronous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981ABD-CA6B-3BCB-C3B9-D4D7C08B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455174"/>
            <a:ext cx="10883591" cy="4336026"/>
          </a:xfrm>
        </p:spPr>
        <p:txBody>
          <a:bodyPr anchor="t">
            <a:normAutofit lnSpcReduction="10000"/>
          </a:bodyPr>
          <a:lstStyle/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JavaScript is synchronous programming language.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JavaScript asynchronous programming allows you to perform tasks without blocking the main thread, so your application stays responsive (e.g., while fetching data, reading files, or waiting for user input).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Executes all statements parallelly. 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Javascript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asynchronous nature align with browser task which often needs waiting for the elements to load ,making request and handling callbacks.</a:t>
            </a: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Playwright API having utilize async/await syntax making it easier to write clean &amp; readable code for handling asynchronous operations.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8691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5CC8A1-25FC-E80B-9C02-87EB3F15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213" y="531503"/>
            <a:ext cx="10018713" cy="65043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Asynchronous Nature </a:t>
            </a:r>
            <a:r>
              <a:rPr lang="en-US" altLang="en-US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Analogy</a:t>
            </a:r>
            <a:endParaRPr lang="en-IN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195C35D5-3230-A6DF-0771-D25EEBD23E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819" y="1675211"/>
            <a:ext cx="658761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Imagine you order pizza.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While it’s being made, you don’t stand still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you might watch TV or do something else.</a:t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Once the pizza is ready, you eat it.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code: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Pizza order = Promise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Waiting for pizza = await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You = JavaScript (can do other things until pizza is ready)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D50E1DE-FDAA-6D1D-12DA-DF665705B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33" y="1675211"/>
            <a:ext cx="4955458" cy="40008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13468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7134BD2-8D54-33E6-B98F-D4CD0105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67CDCA-3476-E6BC-6DC5-5CEDAF30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7" y="204020"/>
            <a:ext cx="10608288" cy="680883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Asynchronous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5FFB17-1118-DB35-C69A-6DD73A73A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62" y="1081548"/>
            <a:ext cx="6465611" cy="5680586"/>
          </a:xfrm>
        </p:spPr>
        <p:txBody>
          <a:bodyPr anchor="t">
            <a:normAutofit lnSpcReduction="10000"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What is a Promise?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Promise is something that will give you a value later — it may succeed (resolve) or fail (reject).</a:t>
            </a:r>
          </a:p>
          <a:p>
            <a:pPr algn="just"/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What is async?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Add async before a function to say: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"This function will return a promise."</a:t>
            </a:r>
          </a:p>
          <a:p>
            <a:pPr algn="just"/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What is await?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Inside an async function, use await to wait for a promise to finish before moving to the next line.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80282B-5603-8244-38DB-83E7C97FD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555" y="1459165"/>
            <a:ext cx="4864327" cy="431329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3891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34711</TotalTime>
  <Words>4257</Words>
  <Application>Microsoft Office PowerPoint</Application>
  <PresentationFormat>Widescreen</PresentationFormat>
  <Paragraphs>564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Arial Unicode MS</vt:lpstr>
      <vt:lpstr>Arial</vt:lpstr>
      <vt:lpstr>Arial Black</vt:lpstr>
      <vt:lpstr>Calibri</vt:lpstr>
      <vt:lpstr>Calibri Light</vt:lpstr>
      <vt:lpstr>Century Schoolbook</vt:lpstr>
      <vt:lpstr>Roboto Medium</vt:lpstr>
      <vt:lpstr>Times New Roman</vt:lpstr>
      <vt:lpstr>Celestial</vt:lpstr>
      <vt:lpstr>Playwright with Javascript</vt:lpstr>
      <vt:lpstr>About trainer</vt:lpstr>
      <vt:lpstr>Training Flow</vt:lpstr>
      <vt:lpstr>What is Playwright</vt:lpstr>
      <vt:lpstr>Key Feature</vt:lpstr>
      <vt:lpstr>Selenium Vs Playwright Vs Cypress</vt:lpstr>
      <vt:lpstr>JavaScript Basics</vt:lpstr>
      <vt:lpstr>What is JavaScript?</vt:lpstr>
      <vt:lpstr>What is JavaScript?</vt:lpstr>
      <vt:lpstr>What is an Interpreter - Based Language ? </vt:lpstr>
      <vt:lpstr>History (ECMA was formerly an acronym for the European Computer Manufacturers Association) </vt:lpstr>
      <vt:lpstr>Features</vt:lpstr>
      <vt:lpstr> Environment Set Up</vt:lpstr>
      <vt:lpstr>Installation</vt:lpstr>
      <vt:lpstr>Data Types</vt:lpstr>
      <vt:lpstr>JavaScript String</vt:lpstr>
      <vt:lpstr>Examples</vt:lpstr>
      <vt:lpstr>typeof Operator</vt:lpstr>
      <vt:lpstr>Working with Variables</vt:lpstr>
      <vt:lpstr>Variables</vt:lpstr>
      <vt:lpstr>Understand Scope</vt:lpstr>
      <vt:lpstr>Redeclaration for let and var</vt:lpstr>
      <vt:lpstr>Scope for var and let</vt:lpstr>
      <vt:lpstr>Working with constants</vt:lpstr>
      <vt:lpstr>Hoisting in JavaScript </vt:lpstr>
      <vt:lpstr>Hoisting in JavaScript </vt:lpstr>
      <vt:lpstr>Operators</vt:lpstr>
      <vt:lpstr>Loose Equality == Vs Strict Equality===</vt:lpstr>
      <vt:lpstr>Guess Output?</vt:lpstr>
      <vt:lpstr>Type Casting</vt:lpstr>
      <vt:lpstr>String conversion</vt:lpstr>
      <vt:lpstr>Number Conversion</vt:lpstr>
      <vt:lpstr>Truthy vs Falsy </vt:lpstr>
      <vt:lpstr>PowerPoint Presentation</vt:lpstr>
      <vt:lpstr>Boolean Conversion</vt:lpstr>
      <vt:lpstr>Conditional Statements</vt:lpstr>
      <vt:lpstr>Loop</vt:lpstr>
      <vt:lpstr>For..of and for..in</vt:lpstr>
      <vt:lpstr>For…of loop</vt:lpstr>
      <vt:lpstr>For…in loop</vt:lpstr>
      <vt:lpstr>Functions</vt:lpstr>
      <vt:lpstr>PowerPoint Presentation</vt:lpstr>
      <vt:lpstr>PowerPoint Presentation</vt:lpstr>
      <vt:lpstr>Array</vt:lpstr>
      <vt:lpstr>Array Methods</vt:lpstr>
      <vt:lpstr>Array Methods</vt:lpstr>
      <vt:lpstr>Multi-Dimensional Array</vt:lpstr>
      <vt:lpstr>String</vt:lpstr>
      <vt:lpstr>String Methods</vt:lpstr>
      <vt:lpstr>Object</vt:lpstr>
      <vt:lpstr>Constructor Functions</vt:lpstr>
      <vt:lpstr>PowerPoint Presentation</vt:lpstr>
      <vt:lpstr>This Keyword</vt:lpstr>
      <vt:lpstr>OOP Principles</vt:lpstr>
      <vt:lpstr>Encapsulation</vt:lpstr>
      <vt:lpstr>PowerPoint Presentation</vt:lpstr>
      <vt:lpstr>Polymorphism</vt:lpstr>
      <vt:lpstr>PowerPoint Presentation</vt:lpstr>
      <vt:lpstr>Inheritance</vt:lpstr>
      <vt:lpstr>PowerPoint Presentation</vt:lpstr>
      <vt:lpstr>Inheritance Types</vt:lpstr>
      <vt:lpstr>PowerPoint Presentation</vt:lpstr>
      <vt:lpstr>Converting JSON to JavaScript</vt:lpstr>
      <vt:lpstr>Synchronous &amp; Asynchronous Nature</vt:lpstr>
      <vt:lpstr>Asynchronous Nature</vt:lpstr>
      <vt:lpstr>Asynchronous Nature Analogy</vt:lpstr>
      <vt:lpstr>Asynchronous Nature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with Javascript</dc:title>
  <dc:creator>ganesh nigade</dc:creator>
  <cp:lastModifiedBy>Microsoft account</cp:lastModifiedBy>
  <cp:revision>130</cp:revision>
  <dcterms:created xsi:type="dcterms:W3CDTF">2025-10-04T12:36:08Z</dcterms:created>
  <dcterms:modified xsi:type="dcterms:W3CDTF">2026-08-13T04:46:26Z</dcterms:modified>
</cp:coreProperties>
</file>